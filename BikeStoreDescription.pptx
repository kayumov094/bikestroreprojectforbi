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994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25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5783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746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5121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5078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854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2191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0224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0262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1589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2101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17629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91125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6030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62139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0257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F6D017D-6753-4C5F-8393-0966C6A5C0CF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FBE87A-DB5F-49D1-98D6-CA4A2D4919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83466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055975" y="1980062"/>
            <a:ext cx="8825658" cy="1227161"/>
          </a:xfrm>
        </p:spPr>
        <p:txBody>
          <a:bodyPr/>
          <a:lstStyle/>
          <a:p>
            <a:pPr algn="ctr"/>
            <a:r>
              <a:rPr lang="en-US" b="1" dirty="0" smtClean="0">
                <a:ln>
                  <a:solidFill>
                    <a:schemeClr val="accent1"/>
                  </a:solidFill>
                </a:ln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Bike Store project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726106" y="3207223"/>
            <a:ext cx="7155528" cy="517951"/>
          </a:xfrm>
        </p:spPr>
        <p:txBody>
          <a:bodyPr>
            <a:noAutofit/>
          </a:bodyPr>
          <a:lstStyle/>
          <a:p>
            <a:r>
              <a:rPr lang="en-US" sz="2800" b="1" dirty="0" smtClean="0">
                <a:ln>
                  <a:solidFill>
                    <a:schemeClr val="tx1"/>
                  </a:solidFill>
                </a:ln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SQL modul-2  in </a:t>
            </a:r>
            <a:r>
              <a:rPr lang="en-US" sz="2800" b="1" dirty="0" err="1" smtClean="0">
                <a:ln>
                  <a:solidFill>
                    <a:schemeClr val="tx1"/>
                  </a:solidFill>
                </a:ln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Maab</a:t>
            </a:r>
            <a:r>
              <a:rPr lang="en-US" sz="2800" b="1" dirty="0" smtClean="0">
                <a:ln>
                  <a:solidFill>
                    <a:schemeClr val="tx1"/>
                  </a:solidFill>
                </a:ln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academy</a:t>
            </a:r>
            <a:endParaRPr lang="ru-RU" sz="2800" b="1" dirty="0">
              <a:ln>
                <a:solidFill>
                  <a:schemeClr val="tx1"/>
                </a:solidFill>
              </a:ln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7396532" y="5488674"/>
            <a:ext cx="4422430" cy="5179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r"/>
            <a:r>
              <a:rPr lang="en-US" i="1" cap="none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i="1" cap="none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A.Qayumov</a:t>
            </a:r>
            <a:r>
              <a:rPr lang="en-US" i="1" cap="none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17.12.2025 </a:t>
            </a:r>
            <a:endParaRPr lang="ru-RU" i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197557" y="3207223"/>
            <a:ext cx="8684076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7174" name="Picture 6" descr="MAAB ACADEMY | LinkedI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258" y="2102470"/>
            <a:ext cx="2209508" cy="2209508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99527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7179" y="452718"/>
            <a:ext cx="5859156" cy="825485"/>
          </a:xfrm>
          <a:ln>
            <a:solidFill>
              <a:schemeClr val="tx1"/>
            </a:solidFill>
          </a:ln>
        </p:spPr>
        <p:txBody>
          <a:bodyPr/>
          <a:lstStyle/>
          <a:p>
            <a:pPr algn="ctr"/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Umumiy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xulosa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37179" y="1607451"/>
            <a:ext cx="5859156" cy="47643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7200" algn="just">
              <a:lnSpc>
                <a:spcPct val="115000"/>
              </a:lnSpc>
            </a:pP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Ushbu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loyihada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SQL Server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yordamida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Bike Store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misolida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BI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tizimi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ishlab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chiqildi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 </a:t>
            </a:r>
          </a:p>
          <a:p>
            <a:pPr indent="457200" algn="just">
              <a:lnSpc>
                <a:spcPct val="115000"/>
              </a:lnSpc>
            </a:pP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Bunda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velosiped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chakana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savdo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tarmog'ini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aks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ettiruvchi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haqiqiy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ma'lumotlar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to'plamlari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bilan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ishlandi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</a:t>
            </a:r>
          </a:p>
          <a:p>
            <a:pPr indent="457200" algn="just">
              <a:lnSpc>
                <a:spcPct val="115000"/>
              </a:lnSpc>
            </a:pP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normalizatsiyalangan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sxemalar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yaratildi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</a:t>
            </a:r>
          </a:p>
          <a:p>
            <a:pPr indent="457200" algn="just">
              <a:lnSpc>
                <a:spcPct val="115000"/>
              </a:lnSpc>
            </a:pP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.csv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fayllardan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ma'lumotlarni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import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qilindi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o'zgartirildi</a:t>
            </a:r>
            <a:endParaRPr lang="en-US" sz="2200" dirty="0" smtClean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indent="457200" algn="just">
              <a:lnSpc>
                <a:spcPct val="115000"/>
              </a:lnSpc>
            </a:pP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Yakunida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viewlar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, stored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procedurelar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va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avtomatlashtirilgan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joblarni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yaratish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orqali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KPI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lardan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iborat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Daily_Report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table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yaratish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bilan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yakunladi</a:t>
            </a:r>
            <a:r>
              <a:rPr lang="en-US" sz="2200" dirty="0" smtClean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  <a:endParaRPr lang="ru-RU" sz="22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King Kog | Brooklyn, NY | Bike Shop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1960" y="1797950"/>
            <a:ext cx="5226707" cy="4573881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8581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5610" y="452718"/>
            <a:ext cx="6688139" cy="700265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Asosiy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ma’lumot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manbalari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646111" y="1405166"/>
            <a:ext cx="6307139" cy="50475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57200" algn="l"/>
              </a:tabLst>
            </a:pPr>
            <a:endParaRPr kumimoji="0" lang="ru-RU" altLang="ru-RU" sz="2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Savdo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Ma'lumotlari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: 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Buyurtmalar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(Orders), 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Mijozlar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(Customers), 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Mahsulotlar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(Products).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endParaRPr kumimoji="0" lang="ru-RU" altLang="ru-RU" sz="2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Logistika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/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Operatsion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Ma'lumotlar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: 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Do'kon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joylashuvlari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(Store Locations), 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Xodimlar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(Staff),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Inventarizatsiya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(Inventory).</a:t>
            </a:r>
          </a:p>
          <a:p>
            <a:pPr lvl="2" algn="just">
              <a:buFontTx/>
              <a:buChar char="•"/>
            </a:pPr>
            <a:endParaRPr kumimoji="0" lang="ru-RU" altLang="ru-RU" sz="2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457200" algn="l"/>
              </a:tabLst>
            </a:pP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Mahsulot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Detallari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: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Mahsulot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Kategoriyalari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(Product Categories),</a:t>
            </a:r>
          </a:p>
          <a:p>
            <a:pPr lvl="2" algn="just">
              <a:buFontTx/>
              <a:buChar char="•"/>
            </a:pP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Brendlar</a:t>
            </a:r>
            <a:r>
              <a:rPr kumimoji="0" lang="en-US" altLang="ru-RU" sz="2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ea typeface="Times New Roman" panose="02020603050405020304" pitchFamily="18" charset="0"/>
                <a:cs typeface="Arial" panose="020B0604020202020204" pitchFamily="34" charset="0"/>
              </a:rPr>
              <a:t> (Brands).</a:t>
            </a:r>
            <a:endParaRPr kumimoji="0" lang="en-US" altLang="ru-RU" sz="2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cs typeface="Arial" panose="020B0604020202020204" pitchFamily="34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437" y="1752601"/>
            <a:ext cx="4344788" cy="426720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07185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1584" y="535215"/>
            <a:ext cx="5241133" cy="83017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1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2 –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topshiriq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554434" y="1822924"/>
            <a:ext cx="5969003" cy="45704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marR="0" lvl="0" indent="-4572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>
                <a:tab pos="457200" algn="l"/>
              </a:tabLst>
            </a:pP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Bike_Store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nomli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database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yaratildi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;</a:t>
            </a:r>
          </a:p>
          <a:p>
            <a:pPr marL="457200" lvl="0" indent="-457200" algn="just">
              <a:lnSpc>
                <a:spcPct val="150000"/>
              </a:lnSpc>
              <a:buFontTx/>
              <a:buAutoNum type="arabicPeriod"/>
            </a:pPr>
            <a:r>
              <a:rPr lang="en-US" sz="2200" dirty="0" err="1">
                <a:cs typeface="Arial" panose="020B0604020202020204" pitchFamily="34" charset="0"/>
              </a:rPr>
              <a:t>ma'lumotlarning</a:t>
            </a:r>
            <a:r>
              <a:rPr lang="en-US" sz="2200" dirty="0">
                <a:cs typeface="Arial" panose="020B0604020202020204" pitchFamily="34" charset="0"/>
              </a:rPr>
              <a:t> </a:t>
            </a:r>
            <a:r>
              <a:rPr lang="en-US" sz="2200" dirty="0" err="1">
                <a:cs typeface="Arial" panose="020B0604020202020204" pitchFamily="34" charset="0"/>
              </a:rPr>
              <a:t>dublikatlashishini</a:t>
            </a:r>
            <a:r>
              <a:rPr lang="en-US" sz="2200" dirty="0">
                <a:cs typeface="Arial" panose="020B0604020202020204" pitchFamily="34" charset="0"/>
              </a:rPr>
              <a:t> </a:t>
            </a:r>
            <a:r>
              <a:rPr lang="en-US" sz="2200" dirty="0" err="1">
                <a:cs typeface="Arial" panose="020B0604020202020204" pitchFamily="34" charset="0"/>
              </a:rPr>
              <a:t>oldini</a:t>
            </a:r>
            <a:r>
              <a:rPr lang="en-US" sz="2200" dirty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olish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maqsadida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har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bir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fayl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uchun</a:t>
            </a:r>
            <a:r>
              <a:rPr lang="en-US" sz="2200" dirty="0" smtClean="0">
                <a:cs typeface="Arial" panose="020B0604020202020204" pitchFamily="34" charset="0"/>
              </a:rPr>
              <a:t> Staging (</a:t>
            </a:r>
            <a:r>
              <a:rPr lang="en-US" sz="2200" dirty="0" err="1" smtClean="0">
                <a:cs typeface="Arial" panose="020B0604020202020204" pitchFamily="34" charset="0"/>
              </a:rPr>
              <a:t>oraliq</a:t>
            </a:r>
            <a:r>
              <a:rPr lang="en-US" sz="2200" dirty="0" smtClean="0">
                <a:cs typeface="Arial" panose="020B0604020202020204" pitchFamily="34" charset="0"/>
              </a:rPr>
              <a:t>) table </a:t>
            </a:r>
            <a:r>
              <a:rPr lang="en-US" sz="2200" dirty="0" err="1" smtClean="0">
                <a:cs typeface="Arial" panose="020B0604020202020204" pitchFamily="34" charset="0"/>
              </a:rPr>
              <a:t>lar</a:t>
            </a:r>
            <a:r>
              <a:rPr lang="en-US" sz="2200" dirty="0" smtClean="0"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cs typeface="Arial" panose="020B0604020202020204" pitchFamily="34" charset="0"/>
              </a:rPr>
              <a:t>yaratildi</a:t>
            </a:r>
            <a:endParaRPr lang="en-US" sz="2200" dirty="0" smtClean="0">
              <a:cs typeface="Arial" panose="020B0604020202020204" pitchFamily="34" charset="0"/>
            </a:endParaRPr>
          </a:p>
          <a:p>
            <a:pPr marL="457200" lvl="0" indent="-457200" algn="just">
              <a:lnSpc>
                <a:spcPct val="150000"/>
              </a:lnSpc>
              <a:buFontTx/>
              <a:buAutoNum type="arabicPeriod"/>
            </a:pP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Har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bir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table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uchun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FK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larni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belgilandi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.</a:t>
            </a:r>
          </a:p>
          <a:p>
            <a:pPr marL="457200" lvl="0" indent="-457200" algn="just">
              <a:lnSpc>
                <a:spcPct val="150000"/>
              </a:lnSpc>
              <a:buFontTx/>
              <a:buAutoNum type="arabicPeriod"/>
            </a:pP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Bulk Insert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yoradmida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ma’lumotlar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 import </a:t>
            </a:r>
            <a:r>
              <a:rPr lang="en-US" altLang="ru-RU" sz="2200" dirty="0" err="1" smtClean="0">
                <a:ea typeface="Times New Roman" panose="02020603050405020304" pitchFamily="18" charset="0"/>
                <a:cs typeface="Arial" panose="020B0604020202020204" pitchFamily="34" charset="0"/>
              </a:rPr>
              <a:t>qilindi</a:t>
            </a:r>
            <a:r>
              <a:rPr lang="en-US" altLang="ru-RU" sz="2200" dirty="0" smtClean="0">
                <a:ea typeface="Times New Roman" panose="02020603050405020304" pitchFamily="18" charset="0"/>
                <a:cs typeface="Arial" panose="020B0604020202020204" pitchFamily="34" charset="0"/>
              </a:rPr>
              <a:t>;</a:t>
            </a:r>
          </a:p>
          <a:p>
            <a:pPr marL="457200" lvl="0" indent="-457200" algn="just">
              <a:lnSpc>
                <a:spcPct val="150000"/>
              </a:lnSpc>
              <a:buFontTx/>
              <a:buAutoNum type="arabicPeriod"/>
            </a:pPr>
            <a:endParaRPr lang="en-US" altLang="ru-RU" sz="2200" dirty="0"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457200" lvl="0" indent="-457200" algn="just">
              <a:lnSpc>
                <a:spcPct val="150000"/>
              </a:lnSpc>
              <a:buFontTx/>
              <a:buAutoNum type="arabicPeriod"/>
            </a:pPr>
            <a:endParaRPr lang="en-US" altLang="ru-RU" sz="2200" dirty="0" smtClean="0"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t="12655" r="20977" b="11208"/>
          <a:stretch/>
        </p:blipFill>
        <p:spPr>
          <a:xfrm>
            <a:off x="6750441" y="1822924"/>
            <a:ext cx="4972456" cy="332575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Прямоугольник 5"/>
          <p:cNvSpPr/>
          <p:nvPr/>
        </p:nvSpPr>
        <p:spPr>
          <a:xfrm>
            <a:off x="6902841" y="3460166"/>
            <a:ext cx="1847055" cy="914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54434" y="5947856"/>
            <a:ext cx="9029700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0" algn="just"/>
            <a:r>
              <a:rPr lang="en-US" altLang="ru-RU" sz="2400" b="1" dirty="0" err="1" smtClean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Natijada</a:t>
            </a:r>
            <a:r>
              <a:rPr lang="en-US" altLang="ru-RU" sz="2400" b="1" dirty="0" smtClean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: </a:t>
            </a:r>
            <a:r>
              <a:rPr kumimoji="0" lang="en-US" alt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ma’lumotlar</a:t>
            </a:r>
            <a:r>
              <a:rPr kumimoji="0" lang="en-US" alt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(3-NF) </a:t>
            </a:r>
            <a:r>
              <a:rPr lang="en-US" altLang="ru-RU" sz="2400" b="1" dirty="0" err="1" smtClean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n</a:t>
            </a:r>
            <a:r>
              <a:rPr kumimoji="0" lang="en-US" alt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ormalizatsiyasiga</a:t>
            </a:r>
            <a:r>
              <a:rPr kumimoji="0" lang="en-US" altLang="ru-RU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kumimoji="0" lang="en-US" altLang="ru-RU" sz="24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erishildi</a:t>
            </a:r>
            <a:endParaRPr kumimoji="0" lang="en-US" altLang="ru-RU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819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98511" y="1857936"/>
            <a:ext cx="5716589" cy="4576482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6 ta View table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yaratildi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ular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quyidagicha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nomlandi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vw_MagazinSavdosiOrtachaSummalari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vw_MahsulotKategoriyasiBoyichaSotuvlar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vw_MahsulotSavdosiRetinglari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vw_MintaqaviyTrendlar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vw_OmbordagiMahsulotlar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vw_XodimlarSamaradorligi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798511" y="605118"/>
            <a:ext cx="5716589" cy="8998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3-topshiriq 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3324" t="40053" r="71376" b="17277"/>
          <a:stretch/>
        </p:blipFill>
        <p:spPr>
          <a:xfrm>
            <a:off x="7189046" y="1857936"/>
            <a:ext cx="4386986" cy="413833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117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6112" y="452718"/>
            <a:ext cx="5659438" cy="97603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smtClean="0"/>
              <a:t>4-topshiriq </a:t>
            </a:r>
            <a:endParaRPr lang="ru-RU" dirty="0"/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588962" y="1900518"/>
            <a:ext cx="5716588" cy="371923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ta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Strorage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Procedure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yaratildi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ular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quyidagicha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nomlandi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dbo.sp_MagazinKPI_hisobla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dbo.sp_MijozXarajatlari</a:t>
            </a:r>
            <a:endParaRPr lang="en-US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dbo.sp_QolganMahsulotlarRoyhati</a:t>
            </a:r>
            <a:endParaRPr lang="en-US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dbo.sp_YillarBoyichaTaqqosla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3880" t="47917" r="73133" b="30729"/>
          <a:stretch/>
        </p:blipFill>
        <p:spPr>
          <a:xfrm>
            <a:off x="6304635" y="2148168"/>
            <a:ext cx="5411115" cy="299533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8344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6269039" cy="93793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smtClean="0"/>
              <a:t>5-topshiriq 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287007"/>
              </p:ext>
            </p:extLst>
          </p:nvPr>
        </p:nvGraphicFramePr>
        <p:xfrm>
          <a:off x="646110" y="2019300"/>
          <a:ext cx="6249990" cy="405370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24995"/>
                <a:gridCol w="3124995"/>
              </a:tblGrid>
              <a:tr h="31693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KPI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Business Insight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Total Revenue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Company-wide performance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63030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Average Order Value (AOV)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Customer spending behavior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317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Inventory Turnover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Efficiency of stock flow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63030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Product Return Rate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(if applicable) – Quality issues?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630306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Revenue by Store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Identifies top/weak branches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317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Gross Profit by Category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High/low margin areas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317098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Sales by Brand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Vendor effectiveness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  <a:tr h="630144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Staff Revenue Contribution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Productivity tracking</a:t>
                      </a:r>
                      <a:endParaRPr lang="ru-RU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r="46403"/>
          <a:stretch/>
        </p:blipFill>
        <p:spPr>
          <a:xfrm>
            <a:off x="7210425" y="2019300"/>
            <a:ext cx="4219575" cy="409575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Прямоугольник 5"/>
          <p:cNvSpPr/>
          <p:nvPr/>
        </p:nvSpPr>
        <p:spPr>
          <a:xfrm>
            <a:off x="507953" y="1511469"/>
            <a:ext cx="4737194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Quyida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berilgan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KPI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qiymatlari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shakllantirildi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372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6394113" cy="80458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 smtClean="0"/>
              <a:t>6-topshiriq </a:t>
            </a:r>
            <a:endParaRPr lang="ru-RU" dirty="0"/>
          </a:p>
        </p:txBody>
      </p:sp>
      <p:sp>
        <p:nvSpPr>
          <p:cNvPr id="3" name="Заголовок 1"/>
          <p:cNvSpPr txBox="1">
            <a:spLocks/>
          </p:cNvSpPr>
          <p:nvPr/>
        </p:nvSpPr>
        <p:spPr>
          <a:xfrm>
            <a:off x="588962" y="1900518"/>
            <a:ext cx="7050088" cy="45002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SQL Server Agent Job </a:t>
            </a:r>
            <a:r>
              <a:rPr lang="en-US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yaratilib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jarayon</a:t>
            </a:r>
            <a:r>
              <a:rPr lang="en-US" sz="2400" b="1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avtomatizatsiyalashtirildi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Agent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nomi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Daily_Report_insert_job</a:t>
            </a:r>
            <a:endParaRPr lang="en-US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Steps: 11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qadamdan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iborat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Muddati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kuni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soat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11:00:00 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da, 2025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yil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17-Dekabrdan 31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dekabrgacha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shakllantiriladi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Agar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jarayonda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xatolik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yuz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bersa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, Alert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ishlaydi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xabar</a:t>
            </a:r>
            <a:r>
              <a:rPr lang="en-US" sz="22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yuborildi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sz="2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152" name="Picture 8" descr="Fashion portrait of serious woman dressed as a secret agent or spy. Gray  background. Stock Photo | Adobe Stoc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0224" y="2609850"/>
            <a:ext cx="4359728" cy="2762250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chemeClr val="accent1">
                <a:lumMod val="60000"/>
                <a:lumOff val="40000"/>
              </a:schemeClr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7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дзаголовок 2"/>
          <p:cNvSpPr txBox="1">
            <a:spLocks/>
          </p:cNvSpPr>
          <p:nvPr/>
        </p:nvSpPr>
        <p:spPr>
          <a:xfrm>
            <a:off x="3126766" y="2423471"/>
            <a:ext cx="7155528" cy="517951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None/>
            </a:pPr>
            <a:r>
              <a:rPr lang="en-US" sz="4000" b="1" dirty="0" err="1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E’tiboringiz</a:t>
            </a:r>
            <a:r>
              <a:rPr lang="en-US" sz="40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</a:t>
            </a:r>
            <a:r>
              <a:rPr lang="en-US" sz="40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uchun</a:t>
            </a:r>
            <a:r>
              <a:rPr lang="en-US" sz="4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 </a:t>
            </a:r>
            <a:r>
              <a:rPr lang="en-US" sz="4000" b="1" dirty="0" err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rahmat</a:t>
            </a:r>
            <a:r>
              <a:rPr lang="en-US" sz="40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  <a:endParaRPr lang="ru-RU" sz="40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одзаголовок 2"/>
          <p:cNvSpPr txBox="1">
            <a:spLocks/>
          </p:cNvSpPr>
          <p:nvPr/>
        </p:nvSpPr>
        <p:spPr>
          <a:xfrm>
            <a:off x="7396532" y="5488674"/>
            <a:ext cx="4422430" cy="5179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r"/>
            <a:r>
              <a:rPr lang="en-US" i="1" cap="none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</a:t>
            </a:r>
            <a:r>
              <a:rPr lang="en-US" i="1" cap="none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A.Qayumov</a:t>
            </a:r>
            <a:r>
              <a:rPr lang="en-US" i="1" cap="none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17.12.2025 </a:t>
            </a:r>
            <a:endParaRPr lang="ru-RU" i="1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 flipV="1">
            <a:off x="3197557" y="3207223"/>
            <a:ext cx="6410190" cy="1905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Picture 6" descr="MAAB ACADEMY | LinkedI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258" y="2102470"/>
            <a:ext cx="2209508" cy="2209508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848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115</TotalTime>
  <Words>271</Words>
  <Application>Microsoft Office PowerPoint</Application>
  <PresentationFormat>Широкоэкранный</PresentationFormat>
  <Paragraphs>63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Wingdings 3</vt:lpstr>
      <vt:lpstr>Ион</vt:lpstr>
      <vt:lpstr>Bike Store project </vt:lpstr>
      <vt:lpstr>Umumiy xulosa</vt:lpstr>
      <vt:lpstr>Asosiy ma’lumot manbalari</vt:lpstr>
      <vt:lpstr>1 va 2 – topshiriq  </vt:lpstr>
      <vt:lpstr>6 ta View table yaratildi va ular quyidagicha nomlandi: -vw_MagazinSavdosiOrtachaSummalari; -vw_MahsulotKategoriyasiBoyichaSotuvlar -vw_MahsulotSavdosiRetinglari; -vw_MintaqaviyTrendlar; -vw_OmbordagiMahsulotlar; -vw_XodimlarSamaradorligi </vt:lpstr>
      <vt:lpstr>4-topshiriq </vt:lpstr>
      <vt:lpstr>5-topshiriq </vt:lpstr>
      <vt:lpstr>6-topshiriq 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 Store project</dc:title>
  <dc:creator>ADMIN</dc:creator>
  <cp:lastModifiedBy>ADMIN</cp:lastModifiedBy>
  <cp:revision>15</cp:revision>
  <dcterms:created xsi:type="dcterms:W3CDTF">2025-12-17T09:59:20Z</dcterms:created>
  <dcterms:modified xsi:type="dcterms:W3CDTF">2025-12-17T12:35:31Z</dcterms:modified>
</cp:coreProperties>
</file>